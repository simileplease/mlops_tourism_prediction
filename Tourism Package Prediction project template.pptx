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5"/>
    <p:sldMasterId id="214748367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Nunito SemiBold"/>
      <p:regular r:id="rId22"/>
      <p:bold r:id="rId23"/>
      <p:italic r:id="rId24"/>
      <p:boldItalic r:id="rId25"/>
    </p:embeddedFont>
    <p:embeddedFont>
      <p:font typeface="Nunito"/>
      <p:regular r:id="rId26"/>
      <p:bold r:id="rId27"/>
      <p:italic r:id="rId28"/>
      <p:boldItalic r:id="rId29"/>
    </p:embeddedFont>
    <p:embeddedFont>
      <p:font typeface="Nunito ExtraBold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2EA955-FAA9-4741-80A4-FAB2EC53E622}">
  <a:tblStyle styleId="{7C2EA955-FAA9-4741-80A4-FAB2EC53E62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NunitoSemiBold-regular.fntdata"/><Relationship Id="rId21" Type="http://schemas.openxmlformats.org/officeDocument/2006/relationships/slide" Target="slides/slide14.xml"/><Relationship Id="rId24" Type="http://schemas.openxmlformats.org/officeDocument/2006/relationships/font" Target="fonts/NunitoSemiBold-italic.fntdata"/><Relationship Id="rId23" Type="http://schemas.openxmlformats.org/officeDocument/2006/relationships/font" Target="fonts/Nunito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Nunito-regular.fntdata"/><Relationship Id="rId25" Type="http://schemas.openxmlformats.org/officeDocument/2006/relationships/font" Target="fonts/NunitoSemiBold-boldItalic.fntdata"/><Relationship Id="rId28" Type="http://schemas.openxmlformats.org/officeDocument/2006/relationships/font" Target="fonts/Nunito-italic.fntdata"/><Relationship Id="rId27" Type="http://schemas.openxmlformats.org/officeDocument/2006/relationships/font" Target="fonts/Nunito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Nunito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NunitoExtraBold-boldItalic.fntdata"/><Relationship Id="rId30" Type="http://schemas.openxmlformats.org/officeDocument/2006/relationships/font" Target="fonts/NunitoExtraBold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cea37f311_2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ecea37f311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cea37f311_2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ecea37f311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cea37f311_2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ecea37f311_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cea37f311_2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ecea37f311_2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cea37f311_2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ecea37f311_2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cea37f311_2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ecea37f311_2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cea37f311_2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ecea37f311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cea37f311_2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ecea37f311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cea37f311_2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ecea37f311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cea37f311_2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ecea37f311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cea37f311_2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ecea37f311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cea37f311_2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ecea37f311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cea37f311_2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ecea37f311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cea37f311_2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g3ecea37f311_2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ecea37f311_2_1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ecea37f311_2_116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  Description automatically generated" id="64" name="Google Shape;64;p15"/>
          <p:cNvPicPr preferRelativeResize="0"/>
          <p:nvPr/>
        </p:nvPicPr>
        <p:blipFill rotWithShape="1">
          <a:blip r:embed="rId2">
            <a:alphaModFix/>
          </a:blip>
          <a:srcRect b="19152" l="42816" r="37297" t="18359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5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77" name="Google Shape;77;p18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{7C2EA955-FAA9-4741-80A4-FAB2EC53E622}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3" name="Google Shape;93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4" name="Google Shape;94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3" name="Google Shape;53;p13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3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57" name="Google Shape;57;p13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/>
        </p:nvSpPr>
        <p:spPr>
          <a:xfrm>
            <a:off x="1158150" y="1412050"/>
            <a:ext cx="6827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" sz="36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Presentation Title</a:t>
            </a:r>
            <a:endParaRPr b="1" sz="3600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3" name="Google Shape;103;p24"/>
          <p:cNvSpPr txBox="1"/>
          <p:nvPr/>
        </p:nvSpPr>
        <p:spPr>
          <a:xfrm>
            <a:off x="1153000" y="2038575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Project and Course Name</a:t>
            </a:r>
            <a:endParaRPr sz="3000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4" name="Google Shape;104;p24"/>
          <p:cNvSpPr txBox="1"/>
          <p:nvPr/>
        </p:nvSpPr>
        <p:spPr>
          <a:xfrm>
            <a:off x="1153000" y="2441950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Date</a:t>
            </a:r>
            <a:endParaRPr b="0" i="0" sz="16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Contents / Agenda</a:t>
            </a:r>
            <a:endParaRPr b="1" i="0" sz="2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0" name="Google Shape;110;p25"/>
          <p:cNvSpPr txBox="1"/>
          <p:nvPr/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Executive Summary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Data Registration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Data Preparation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Model Building with Experimentation Tracking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Model Deployment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Automated GitHub Actions Workflow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Output Evaluation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Appendix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Executive Summary </a:t>
            </a:r>
            <a:endParaRPr b="1" i="0" sz="2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6" name="Google Shape;116;p26"/>
          <p:cNvSpPr txBox="1"/>
          <p:nvPr/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Please mention conclusions, actionable insights &amp; business recommendations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Data Registration</a:t>
            </a:r>
            <a:endParaRPr b="1" i="0" sz="2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Create a master folder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,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subfolder 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and share their details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Register the dataset on the Hugging Face dataset space 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(Share screenshots of the step execute in the github action and hugging face data space)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Data Preparation</a:t>
            </a:r>
            <a:endParaRPr b="1" i="0" sz="2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8" name="Google Shape;128;p28"/>
          <p:cNvSpPr txBox="1"/>
          <p:nvPr/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Provide details of loading, cleaning and 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splitting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of the dataset.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Perform data cleaning and remove any unnecessary columns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Split the cleaned dataset into training and testing sets, and save them locally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Upload the resulting train and test datasets back to the Hugging Face data space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You can use more than one slide if needed 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9" name="Google Shape;129;p28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sng" cap="none" strike="noStrike">
                <a:solidFill>
                  <a:srgbClr val="0097A7"/>
                </a:solidFill>
                <a:latin typeface="Nunito"/>
                <a:ea typeface="Nunito"/>
                <a:cs typeface="Nunito"/>
                <a:sym typeface="Nunito"/>
              </a:rPr>
              <a:t>Link to Appendix slide on data background check</a:t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Model Building with Experimentation Tracking</a:t>
            </a:r>
            <a:endParaRPr b="1" i="0" sz="2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5" name="Google Shape;135;p29"/>
          <p:cNvSpPr txBox="1"/>
          <p:nvPr/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Load the train and test data from the Hugging Face data space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Define the model and parameters for tuning XGBoost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Tune the model with the defined parameters and log all tuned parameters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Evaluate the model performance across metrics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unito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Register the best model into the Hugging Face model hub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You can use more than one slide if needed 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6" name="Google Shape;136;p29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sng" cap="none" strike="noStrike">
                <a:solidFill>
                  <a:srgbClr val="0097A7"/>
                </a:solidFill>
                <a:latin typeface="Nunito"/>
                <a:ea typeface="Nunito"/>
                <a:cs typeface="Nunito"/>
                <a:sym typeface="Nunito"/>
              </a:rPr>
              <a:t>Link to Appendix slide on data background check</a:t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Model Deployment</a:t>
            </a:r>
            <a:endParaRPr b="1" i="0" sz="2200" u="none" cap="none" strike="noStrike">
              <a:solidFill>
                <a:schemeClr val="dk1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2" name="Google Shape;142;p30"/>
          <p:cNvSpPr txBox="1"/>
          <p:nvPr/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Define a Dockerfile and list all configurations</a:t>
            </a:r>
            <a:endParaRPr b="0" i="0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Load the saved model from the Hugging Face model hub and get inputs into a dataframe</a:t>
            </a:r>
            <a:endParaRPr b="0" i="0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Define a dependencies file and a hosting script to push all deployment files to the Hugging Face space</a:t>
            </a:r>
            <a:endParaRPr b="0" i="0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" sz="16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Note: You can use more than one slide if needed </a:t>
            </a:r>
            <a:endParaRPr b="0" i="1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/>
        </p:nvSpPr>
        <p:spPr>
          <a:xfrm>
            <a:off x="311700" y="29855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Automated GitHub Actions </a:t>
            </a:r>
            <a:r>
              <a:rPr b="1" i="0" lang="en" sz="22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Workflow</a:t>
            </a:r>
            <a:endParaRPr b="1" i="0" sz="2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8" name="Google Shape;148;p31"/>
          <p:cNvSpPr txBox="1"/>
          <p:nvPr/>
        </p:nvSpPr>
        <p:spPr>
          <a:xfrm>
            <a:off x="300350" y="10143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Create a pipeline.yml file in the GitHub repo and define all ML workflow steps</a:t>
            </a:r>
            <a:endParaRPr b="0" i="0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Push all files to GitHub and automate the end-to-end workflow</a:t>
            </a:r>
            <a:endParaRPr b="0" i="0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Update the workflow to automatically push code updates to the main branch</a:t>
            </a:r>
            <a:endParaRPr b="0" i="0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" sz="16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Note: You can use more than one slide if needed </a:t>
            </a:r>
            <a:endParaRPr b="0" i="1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2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Output Evaluation</a:t>
            </a:r>
            <a:endParaRPr b="1" i="0" sz="2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4" name="Google Shape;154;p32"/>
          <p:cNvSpPr txBox="1"/>
          <p:nvPr/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GitHub: provide link to repository and screenshot of folder structure and executed workflow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Streamlit on Hugging Face: provide link to HF space and screenshot of the Streamlit app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92825"/>
            <a:ext cx="8893198" cy="85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4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Dataset Overview and Registration</a:t>
            </a:r>
            <a:endParaRPr b="1" i="0" sz="2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5" name="Google Shape;165;p34"/>
          <p:cNvSpPr txBox="1"/>
          <p:nvPr/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describe the dataset: source, features, target variable, and Hugging Face registration details</a:t>
            </a:r>
            <a:endParaRPr b="0" i="0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5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Experimentation Tracking Details</a:t>
            </a:r>
            <a:endParaRPr b="1" i="0" sz="2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1" name="Google Shape;171;p35"/>
          <p:cNvSpPr txBox="1"/>
          <p:nvPr/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List all models and hyperparameter combinations tried, along with their evaluation metric scores</a:t>
            </a:r>
            <a:endParaRPr b="0" i="0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Show logged parameters from MLflow or equivalent tracking tool and compare runs</a:t>
            </a:r>
            <a:endParaRPr b="0" i="0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1" lang="en" sz="16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You can use more than one slide if needed</a:t>
            </a:r>
            <a:r>
              <a:rPr b="0" i="1" lang="en" sz="14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b="0" i="1" sz="14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6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GitHub Actions Workflow Details</a:t>
            </a:r>
            <a:endParaRPr b="1" i="0" sz="2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7" name="Google Shape;177;p36"/>
          <p:cNvSpPr txBox="1"/>
          <p:nvPr/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Include screenshots of each GitHub Actions workflow step (green/red status) and the overall pipeline run</a:t>
            </a:r>
            <a:endParaRPr b="0" i="0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Describe the YAML pipeline structure: each step, its purpose, and how code updates are automatically pushed to the main branch</a:t>
            </a:r>
            <a:endParaRPr b="0" i="0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" sz="16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Note: You can use more than one slide if needed </a:t>
            </a:r>
            <a:endParaRPr b="0" i="1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7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85" name="Google Shape;185;p37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